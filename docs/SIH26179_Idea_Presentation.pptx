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7571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605791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6/2/2026</a:t>
            </a:fld>
            <a:endParaRPr lang="en-US"/>
          </a:p>
        </p:txBody>
      </p:sp>
      <p:sp>
        <p:nvSpPr>
          <p:cNvPr id="159731200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184975227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635055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932367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56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5221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38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770B6E-E670-FF46-5859-35746694AD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4097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64521989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40294130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3783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8433336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162494862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915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8680564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27198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2511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3184064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62163994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7538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1019058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55850300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181146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13615141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7726376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6/2/2026</a:t>
            </a:fld>
            <a:endParaRPr lang="en-US"/>
          </a:p>
        </p:txBody>
      </p:sp>
      <p:sp>
        <p:nvSpPr>
          <p:cNvPr id="14351315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8353367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809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444029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857730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6/2/2026</a:t>
            </a:fld>
            <a:endParaRPr lang="en-US"/>
          </a:p>
        </p:txBody>
      </p:sp>
      <p:sp>
        <p:nvSpPr>
          <p:cNvPr id="3116113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8355824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175912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708465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7107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6/2/2026</a:t>
            </a:fld>
            <a:endParaRPr lang="en-US"/>
          </a:p>
        </p:txBody>
      </p:sp>
      <p:sp>
        <p:nvSpPr>
          <p:cNvPr id="1405097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2897260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6173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8658062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51911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151891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6/2/2026</a:t>
            </a:fld>
            <a:endParaRPr lang="en-US"/>
          </a:p>
        </p:txBody>
      </p:sp>
      <p:sp>
        <p:nvSpPr>
          <p:cNvPr id="2668530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1096019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1805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801090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51456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6493907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766921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964836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6/2/2026</a:t>
            </a:fld>
            <a:endParaRPr lang="en-US"/>
          </a:p>
        </p:txBody>
      </p:sp>
      <p:sp>
        <p:nvSpPr>
          <p:cNvPr id="8313801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2922156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0629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63974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6/2/2026</a:t>
            </a:fld>
            <a:endParaRPr lang="en-US"/>
          </a:p>
        </p:txBody>
      </p:sp>
      <p:sp>
        <p:nvSpPr>
          <p:cNvPr id="8310520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7623909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0943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6/2/2026</a:t>
            </a:fld>
            <a:endParaRPr lang="en-US"/>
          </a:p>
        </p:txBody>
      </p:sp>
      <p:sp>
        <p:nvSpPr>
          <p:cNvPr id="6799187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6058555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51600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6600822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1405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47476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6/2/2026</a:t>
            </a:fld>
            <a:endParaRPr lang="en-US"/>
          </a:p>
        </p:txBody>
      </p:sp>
      <p:sp>
        <p:nvSpPr>
          <p:cNvPr id="13882137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6179275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87704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9225929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1133393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51345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6/2/2026</a:t>
            </a:fld>
            <a:endParaRPr lang="en-US"/>
          </a:p>
        </p:txBody>
      </p:sp>
      <p:sp>
        <p:nvSpPr>
          <p:cNvPr id="2039972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1780565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2781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7476033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953154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6/2/2026</a:t>
            </a:fld>
            <a:endParaRPr lang="en-US"/>
          </a:p>
        </p:txBody>
      </p:sp>
      <p:sp>
        <p:nvSpPr>
          <p:cNvPr id="2212007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0027158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86891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568889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382419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6/2/2026</a:t>
            </a:fld>
            <a:endParaRPr lang="en-US"/>
          </a:p>
        </p:txBody>
      </p:sp>
      <p:sp>
        <p:nvSpPr>
          <p:cNvPr id="14595988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7968070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8743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159812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612638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6/2/2026</a:t>
            </a:fld>
            <a:endParaRPr lang="en-US"/>
          </a:p>
        </p:txBody>
      </p:sp>
      <p:sp>
        <p:nvSpPr>
          <p:cNvPr id="84708587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76685355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drive.google.com/file/d/18sxWiuMnWPeHrGkHLboR7Ilf_cLvF4tA/view?usp=sharing" TargetMode="External"/><Relationship Id="rId7" Type="http://schemas.openxmlformats.org/officeDocument/2006/relationships/hyperlink" Target="https://dmart-retail-os.vercel.app/" TargetMode="External"/><Relationship Id="rId8" Type="http://schemas.openxmlformats.org/officeDocument/2006/relationships/hyperlink" Target="https://github.com/er-anubhav/Retail-OS" TargetMode="External"/><Relationship Id="rId9" Type="http://schemas.openxmlformats.org/officeDocument/2006/relationships/hyperlink" Target="https://docs.google.com/document/d/1KF_REZteJivsuR9ufB4jvx7c8vcf6goF/edit?usp=sharing&amp;ouid=102527121718092635333&amp;rtpof=true&amp;sd=true" TargetMode="External"/><Relationship Id="rId10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hyperlink" Target="https://docs.ultralytics.com/tasks/det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426693367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223643" name="Freeform: Shap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fill="norm" stroke="1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1726298813" name="Picture 4"/>
          <p:cNvPicPr>
            <a:picLocks noChangeAspect="1"/>
          </p:cNvPicPr>
          <p:nvPr/>
        </p:nvPicPr>
        <p:blipFill rotWithShape="1">
          <a:blip r:embed="rId3"/>
          <a:srcRect l="0" t="0" r="59916" b="0"/>
          <a:stretch/>
        </p:blipFill>
        <p:spPr bwMode="auto"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1870853648" name="Subtitle 3"/>
          <p:cNvSpPr>
            <a:spLocks noGrp="1"/>
          </p:cNvSpPr>
          <p:nvPr>
            <p:ph type="subTitle" idx="1"/>
          </p:nvPr>
        </p:nvSpPr>
        <p:spPr bwMode="auto">
          <a:xfrm>
            <a:off x="1245686" y="648614"/>
            <a:ext cx="8534400" cy="1752599"/>
          </a:xfrm>
        </p:spPr>
        <p:txBody>
          <a:bodyPr/>
          <a:lstStyle/>
          <a:p>
            <a:pPr>
              <a:defRPr/>
            </a:pPr>
            <a:endParaRPr lang="en-US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VERCEL</a:t>
            </a: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95343280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/>
                </a:solidFill>
                <a:latin typeface="Garamond"/>
              </a:rPr>
              <a:t>SMART INDIA HACKATHON </a:t>
            </a:r>
            <a:r>
              <a:rPr lang="en-US" sz="4000" b="1">
                <a:solidFill>
                  <a:schemeClr val="tx2"/>
                </a:solidFill>
                <a:latin typeface="Garamond"/>
              </a:rPr>
              <a:t>2026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1295091659" name="TextBox 9"/>
          <p:cNvSpPr txBox="1"/>
          <p:nvPr/>
        </p:nvSpPr>
        <p:spPr bwMode="auto">
          <a:xfrm flipH="0" flipV="0">
            <a:off x="331283" y="2076447"/>
            <a:ext cx="7474312" cy="4160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endParaRPr sz="1800" b="0">
              <a:latin typeface="Georgia"/>
              <a:cs typeface="Georgia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0">
                <a:latin typeface="Georgia"/>
                <a:ea typeface="Georgia"/>
                <a:cs typeface="Georgia"/>
              </a:rPr>
              <a:t>Problem Statement ID –</a:t>
            </a:r>
            <a:r>
              <a:rPr sz="1800" b="0">
                <a:latin typeface="Georgia"/>
                <a:cs typeface="Georgia"/>
              </a:rPr>
              <a:t>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26179</a:t>
            </a:r>
            <a:endParaRPr sz="1800" b="0">
              <a:latin typeface="Georgia"/>
              <a:cs typeface="Georgia"/>
            </a:endParaRPr>
          </a:p>
          <a:p>
            <a:pPr marL="285750" indent="-285750" algn="l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>
                <a:latin typeface="Georgia"/>
                <a:ea typeface="Georgia"/>
                <a:cs typeface="Georgia"/>
              </a:rPr>
              <a:t>Problem Statement Title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 –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AI Powered Retail Intelligence Platform</a:t>
            </a:r>
            <a:b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</a:br>
            <a:endParaRPr lang="en-US" sz="2400" b="0" i="0" u="none" strike="noStrike" cap="none" spc="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>
            <a:pPr marL="285750" indent="-285750" algn="l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>
                <a:latin typeface="Georgia"/>
                <a:ea typeface="Georgia"/>
                <a:cs typeface="Georgia"/>
              </a:rPr>
              <a:t>Theme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 –</a:t>
            </a:r>
            <a:r>
              <a:rPr sz="1800" b="0">
                <a:latin typeface="Georgia"/>
                <a:cs typeface="Georgia"/>
              </a:rPr>
              <a:t>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Miscellaneous</a:t>
            </a:r>
            <a:endParaRPr sz="1800" b="0">
              <a:latin typeface="Georgia"/>
              <a:cs typeface="Georgia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0">
                <a:latin typeface="Georgia"/>
                <a:ea typeface="Georgia"/>
                <a:cs typeface="Georgia"/>
              </a:rPr>
              <a:t>PS Category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–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Hardware</a:t>
            </a:r>
            <a:endParaRPr sz="1800" b="0">
              <a:latin typeface="Georgia"/>
              <a:cs typeface="Georgia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0">
                <a:latin typeface="Georgia"/>
                <a:ea typeface="Georgia"/>
                <a:cs typeface="Georgia"/>
              </a:rPr>
              <a:t>Team ID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 –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166870</a:t>
            </a:r>
            <a:endParaRPr sz="1800" b="0">
              <a:latin typeface="Georgia"/>
              <a:cs typeface="Georgia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0">
                <a:latin typeface="Georgia"/>
                <a:ea typeface="Georgia"/>
                <a:cs typeface="Georgia"/>
              </a:rPr>
              <a:t>Team Name (Registered on portal)</a:t>
            </a:r>
            <a:r>
              <a:rPr lang="en-US" sz="2400" b="0">
                <a:latin typeface="Georgia"/>
                <a:ea typeface="Georgia"/>
                <a:cs typeface="Georgia"/>
              </a:rPr>
              <a:t>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–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VERCEL</a:t>
            </a:r>
            <a:endParaRPr sz="2400" b="0">
              <a:latin typeface="Georgia"/>
              <a:cs typeface="Georgia"/>
            </a:endParaRPr>
          </a:p>
        </p:txBody>
      </p:sp>
      <p:pic>
        <p:nvPicPr>
          <p:cNvPr id="1180266059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610142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54688355" name="Title 1"/>
          <p:cNvSpPr>
            <a:spLocks noGrp="1"/>
          </p:cNvSpPr>
          <p:nvPr>
            <p:ph type="title"/>
          </p:nvPr>
        </p:nvSpPr>
        <p:spPr bwMode="auto">
          <a:xfrm>
            <a:off x="182998" y="0"/>
            <a:ext cx="10972800" cy="1143000"/>
          </a:xfrm>
        </p:spPr>
        <p:txBody>
          <a:bodyPr/>
          <a:lstStyle/>
          <a:p>
            <a:pPr>
              <a:defRPr/>
            </a:pPr>
            <a:br>
              <a:rPr lang="en-US" sz="3600" b="1">
                <a:latin typeface="Times New Roman"/>
                <a:ea typeface="ＭＳ Ｐゴシック"/>
                <a:cs typeface="Times New Roman"/>
              </a:rPr>
            </a:br>
            <a:r>
              <a:rPr lang="en-US" sz="3600" b="1">
                <a:latin typeface="Times New Roman"/>
                <a:ea typeface="ＭＳ Ｐゴシック"/>
                <a:cs typeface="Times New Roman"/>
              </a:rPr>
              <a:t>IDEA TITLE</a:t>
            </a:r>
            <a:endParaRPr/>
          </a:p>
        </p:txBody>
      </p:sp>
      <p:sp>
        <p:nvSpPr>
          <p:cNvPr id="1630340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24050913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03192935" name="Oval 9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latin typeface="Georgia"/>
                <a:ea typeface="Georgia"/>
                <a:cs typeface="Georgia"/>
              </a:rPr>
              <a:t>Vercel</a:t>
            </a:r>
            <a:endParaRPr>
              <a:latin typeface="Georgia"/>
              <a:cs typeface="Georgia"/>
            </a:endParaRPr>
          </a:p>
        </p:txBody>
      </p:sp>
      <p:pic>
        <p:nvPicPr>
          <p:cNvPr id="279791724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952201087" name="Freeform 20"/>
          <p:cNvSpPr/>
          <p:nvPr/>
        </p:nvSpPr>
        <p:spPr bwMode="auto">
          <a:xfrm rot="0" flipH="0" flipV="0">
            <a:off x="407846" y="2039124"/>
            <a:ext cx="6136333" cy="1587702"/>
          </a:xfrm>
          <a:custGeom>
            <a:avLst/>
            <a:gdLst/>
            <a:ahLst/>
            <a:cxnLst/>
            <a:rect l="l" t="t" r="r" b="b"/>
            <a:pathLst>
              <a:path w="6733782" h="1790600" fill="norm" stroke="1" extrusionOk="0">
                <a:moveTo>
                  <a:pt x="0" y="0"/>
                </a:moveTo>
                <a:lnTo>
                  <a:pt x="6733782" y="0"/>
                </a:lnTo>
                <a:lnTo>
                  <a:pt x="6733782" y="1790600"/>
                </a:lnTo>
                <a:lnTo>
                  <a:pt x="0" y="1790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rcRect l="4262" t="0" r="3212" b="0"/>
            <a:stretch>
              <a:fillRect l="0" t="-16475" r="0" b="-8878"/>
            </a:stretch>
          </a:blipFill>
        </p:spPr>
      </p:sp>
      <p:sp>
        <p:nvSpPr>
          <p:cNvPr id="149637879" name=""/>
          <p:cNvSpPr/>
          <p:nvPr/>
        </p:nvSpPr>
        <p:spPr bwMode="auto">
          <a:xfrm flipH="0" flipV="0">
            <a:off x="313893" y="1354485"/>
            <a:ext cx="5891442" cy="640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l">
              <a:defRPr/>
            </a:pPr>
            <a:r>
              <a:rPr sz="1800" b="0" i="0" u="none">
                <a:solidFill>
                  <a:srgbClr val="002060"/>
                </a:solidFill>
                <a:latin typeface="Georgia"/>
                <a:ea typeface="Georgia"/>
                <a:cs typeface="Georgia"/>
              </a:rPr>
              <a:t>Stores currently </a:t>
            </a:r>
            <a:r>
              <a:rPr sz="1800" b="1" i="0" u="none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</a:rPr>
              <a:t>lack </a:t>
            </a:r>
            <a:r>
              <a:rPr sz="1800" b="0" i="0" u="none">
                <a:solidFill>
                  <a:srgbClr val="002060"/>
                </a:solidFill>
                <a:latin typeface="Georgia"/>
                <a:ea typeface="Georgia"/>
                <a:cs typeface="Georgia"/>
              </a:rPr>
              <a:t>the ability to track empty shelves, </a:t>
            </a:r>
            <a:br>
              <a:rPr sz="1800" b="0" i="0" u="none">
                <a:solidFill>
                  <a:srgbClr val="002060"/>
                </a:solidFill>
                <a:latin typeface="Georgia"/>
                <a:ea typeface="Georgia"/>
                <a:cs typeface="Georgia"/>
              </a:rPr>
            </a:br>
            <a:r>
              <a:rPr sz="1800" b="0" i="0" u="none">
                <a:solidFill>
                  <a:srgbClr val="002060"/>
                </a:solidFill>
                <a:latin typeface="Georgia"/>
                <a:ea typeface="Georgia"/>
                <a:cs typeface="Georgia"/>
              </a:rPr>
              <a:t>customer movement, </a:t>
            </a:r>
            <a:r>
              <a:rPr sz="1800" b="0" i="0" u="none">
                <a:solidFill>
                  <a:srgbClr val="002060"/>
                </a:solidFill>
                <a:latin typeface="Georgia"/>
                <a:ea typeface="Georgia"/>
                <a:cs typeface="Georgia"/>
              </a:rPr>
              <a:t>and long queues in real time.</a:t>
            </a:r>
            <a:endParaRPr sz="1800" b="0" i="0" u="none">
              <a:solidFill>
                <a:srgbClr val="0020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127596177" name=""/>
          <p:cNvSpPr/>
          <p:nvPr/>
        </p:nvSpPr>
        <p:spPr bwMode="auto">
          <a:xfrm flipH="0" flipV="0">
            <a:off x="407846" y="3748416"/>
            <a:ext cx="6933631" cy="16691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1800" b="0" i="0" u="none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</a:rPr>
              <a:t>Poor staffing decisions</a:t>
            </a:r>
            <a:r>
              <a:rPr sz="1800" b="0" i="0" u="none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increase operating costs.</a:t>
            </a:r>
            <a:endParaRPr sz="2400">
              <a:latin typeface="Georgia"/>
              <a:cs typeface="Georgia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Stores have </a:t>
            </a:r>
            <a:r>
              <a:rPr sz="1800" b="0" i="0" u="none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</a:rPr>
              <a:t>limited visibility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 into shopper behavior.</a:t>
            </a:r>
            <a:endParaRPr sz="2400">
              <a:latin typeface="Georgia"/>
              <a:cs typeface="Georgia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Manual monitoring </a:t>
            </a:r>
            <a:r>
              <a:rPr sz="1800" b="0" i="0" u="none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</a:rPr>
              <a:t>wastes staff time</a:t>
            </a:r>
            <a:r>
              <a:rPr sz="1800" b="0" i="0" u="none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1800" b="0" i="0" u="none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</a:rPr>
              <a:t>Weak connectivity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 makes cloud systems unreliable.</a:t>
            </a:r>
            <a:endParaRPr sz="2400">
              <a:latin typeface="Georgia"/>
              <a:cs typeface="Georgia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1800" b="0" i="0" u="none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</a:rPr>
              <a:t>Privacy concerns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 limit customer tracking.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934051565" name="Freeform 18"/>
          <p:cNvSpPr/>
          <p:nvPr/>
        </p:nvSpPr>
        <p:spPr bwMode="auto">
          <a:xfrm rot="0" flipH="0" flipV="0">
            <a:off x="7066737" y="2217656"/>
            <a:ext cx="5059099" cy="568830"/>
          </a:xfrm>
          <a:custGeom>
            <a:avLst/>
            <a:gdLst/>
            <a:ahLst/>
            <a:cxnLst/>
            <a:rect l="l" t="t" r="r" b="b"/>
            <a:pathLst>
              <a:path w="3945467" h="380575" fill="norm" stroke="1" extrusionOk="0">
                <a:moveTo>
                  <a:pt x="0" y="0"/>
                </a:moveTo>
                <a:lnTo>
                  <a:pt x="3945467" y="0"/>
                </a:lnTo>
                <a:lnTo>
                  <a:pt x="3945467" y="380576"/>
                </a:lnTo>
                <a:lnTo>
                  <a:pt x="0" y="380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-8047" t="-81736" r="-104050" b="-917689"/>
            </a:stretch>
          </a:blipFill>
        </p:spPr>
      </p:sp>
      <p:cxnSp>
        <p:nvCxnSpPr>
          <p:cNvPr id="159166502" name=""/>
          <p:cNvCxnSpPr/>
          <p:nvPr/>
        </p:nvCxnSpPr>
        <p:spPr bwMode="auto">
          <a:xfrm flipH="0" flipV="0">
            <a:off x="6794016" y="1805506"/>
            <a:ext cx="46843" cy="3865946"/>
          </a:xfrm>
          <a:prstGeom prst="line">
            <a:avLst/>
          </a:prstGeom>
          <a:ln w="19050" cap="flat" cmpd="sng" algn="ctr">
            <a:solidFill>
              <a:srgbClr val="026AF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718118462" name=""/>
          <p:cNvSpPr/>
          <p:nvPr/>
        </p:nvSpPr>
        <p:spPr bwMode="auto">
          <a:xfrm flipH="0" flipV="0">
            <a:off x="7066737" y="2965653"/>
            <a:ext cx="4818339" cy="20120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Uses </a:t>
            </a:r>
            <a:r>
              <a:rPr sz="1800" b="0" i="0" u="none">
                <a:solidFill>
                  <a:srgbClr val="078F44"/>
                </a:solidFill>
                <a:latin typeface="Georgia"/>
                <a:ea typeface="Georgia"/>
                <a:cs typeface="Georgia"/>
              </a:rPr>
              <a:t>existing store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 cameras and </a:t>
            </a:r>
            <a:r>
              <a:rPr sz="1800" b="0" i="0" u="none">
                <a:solidFill>
                  <a:srgbClr val="078F44"/>
                </a:solidFill>
                <a:latin typeface="Georgia"/>
                <a:ea typeface="Georgia"/>
                <a:cs typeface="Georgia"/>
              </a:rPr>
              <a:t>processes data locally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.</a:t>
            </a:r>
            <a:endParaRPr sz="2400">
              <a:solidFill>
                <a:schemeClr val="tx1"/>
              </a:solidFill>
              <a:latin typeface="Georgia"/>
              <a:cs typeface="Georg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D</a:t>
            </a:r>
            <a:r>
              <a:rPr sz="1800" b="0" i="0" u="none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etects </a:t>
            </a:r>
            <a:r>
              <a:rPr sz="1800" b="0" i="0" u="none">
                <a:solidFill>
                  <a:srgbClr val="078F44"/>
                </a:solidFill>
                <a:latin typeface="Georgia"/>
                <a:ea typeface="Georgia"/>
                <a:cs typeface="Georgia"/>
              </a:rPr>
              <a:t>empty shelves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 and long queues in </a:t>
            </a:r>
            <a:r>
              <a:rPr sz="1800" b="0" i="0" u="none">
                <a:solidFill>
                  <a:srgbClr val="078F44"/>
                </a:solidFill>
                <a:latin typeface="Georgia"/>
                <a:ea typeface="Georgia"/>
                <a:cs typeface="Georgia"/>
              </a:rPr>
              <a:t>real time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Gives </a:t>
            </a:r>
            <a:r>
              <a:rPr sz="1800" b="0" i="0" u="none">
                <a:solidFill>
                  <a:srgbClr val="00B050"/>
                </a:solidFill>
                <a:latin typeface="Georgia"/>
                <a:ea typeface="Georgia"/>
                <a:cs typeface="Georgia"/>
              </a:rPr>
              <a:t>quick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, </a:t>
            </a:r>
            <a:r>
              <a:rPr sz="1800" b="0" i="0" u="none">
                <a:solidFill>
                  <a:srgbClr val="00B050"/>
                </a:solidFill>
                <a:latin typeface="Georgia"/>
                <a:ea typeface="Georgia"/>
                <a:cs typeface="Georgia"/>
              </a:rPr>
              <a:t>privacy-safe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 alerts to staff.</a:t>
            </a:r>
            <a:endParaRPr sz="2400">
              <a:latin typeface="Georgia"/>
              <a:cs typeface="Georg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Helps </a:t>
            </a:r>
            <a:r>
              <a:rPr sz="1800" b="0" i="0" u="none">
                <a:solidFill>
                  <a:srgbClr val="00B050"/>
                </a:solidFill>
                <a:latin typeface="Georgia"/>
                <a:ea typeface="Georgia"/>
                <a:cs typeface="Georgia"/>
              </a:rPr>
              <a:t>improve daily store operations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.</a:t>
            </a:r>
            <a:endParaRPr sz="2400">
              <a:solidFill>
                <a:schemeClr val="tx1"/>
              </a:solidFill>
              <a:latin typeface="Georgia"/>
              <a:cs typeface="Georgia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1800" b="0" i="0" u="none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Works with</a:t>
            </a:r>
            <a:r>
              <a:rPr sz="1800" b="0" i="0" u="none">
                <a:solidFill>
                  <a:srgbClr val="00B050"/>
                </a:solidFill>
                <a:latin typeface="Georgia"/>
                <a:ea typeface="Georgia"/>
                <a:cs typeface="Georgia"/>
              </a:rPr>
              <a:t> existing</a:t>
            </a:r>
            <a:r>
              <a:rPr sz="18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 POS/ERP systems.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837857184" name=""/>
          <p:cNvSpPr/>
          <p:nvPr/>
        </p:nvSpPr>
        <p:spPr bwMode="auto">
          <a:xfrm rot="0" flipH="0" flipV="0">
            <a:off x="7204589" y="1124782"/>
            <a:ext cx="1886954" cy="1020089"/>
          </a:xfrm>
          <a:prstGeom prst="cloud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009816412" name=""/>
          <p:cNvSpPr/>
          <p:nvPr/>
        </p:nvSpPr>
        <p:spPr bwMode="auto">
          <a:xfrm rot="0" flipH="0" flipV="0">
            <a:off x="9273611" y="1110654"/>
            <a:ext cx="1629067" cy="1034217"/>
          </a:xfrm>
          <a:prstGeom prst="cloud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283845671" name=""/>
          <p:cNvSpPr txBox="1"/>
          <p:nvPr/>
        </p:nvSpPr>
        <p:spPr bwMode="auto">
          <a:xfrm rot="0" flipH="0" flipV="0">
            <a:off x="7920523" y="1326828"/>
            <a:ext cx="62985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u="sng">
                <a:solidFill>
                  <a:srgbClr val="7030A0"/>
                </a:solidFill>
                <a:hlinkClick r:id="rId6" tooltip=""/>
              </a:rPr>
              <a:t>Video</a:t>
            </a:r>
            <a:endParaRPr sz="1400">
              <a:solidFill>
                <a:srgbClr val="7030A0"/>
              </a:solidFill>
            </a:endParaRPr>
          </a:p>
        </p:txBody>
      </p:sp>
      <p:sp>
        <p:nvSpPr>
          <p:cNvPr id="574036807" name=""/>
          <p:cNvSpPr txBox="1"/>
          <p:nvPr/>
        </p:nvSpPr>
        <p:spPr bwMode="auto">
          <a:xfrm rot="0" flipH="0" flipV="0">
            <a:off x="7822849" y="1540368"/>
            <a:ext cx="81681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u="sng">
                <a:solidFill>
                  <a:srgbClr val="7030A0"/>
                </a:solidFill>
                <a:hlinkClick r:id="rId7" tooltip=""/>
              </a:rPr>
              <a:t>Website</a:t>
            </a:r>
            <a:endParaRPr sz="1400">
              <a:solidFill>
                <a:srgbClr val="026AF8"/>
              </a:solidFill>
            </a:endParaRPr>
          </a:p>
        </p:txBody>
      </p:sp>
      <p:sp>
        <p:nvSpPr>
          <p:cNvPr id="1423182553" name=""/>
          <p:cNvSpPr txBox="1"/>
          <p:nvPr/>
        </p:nvSpPr>
        <p:spPr bwMode="auto">
          <a:xfrm rot="0" flipH="0" flipV="0">
            <a:off x="8737598" y="868318"/>
            <a:ext cx="103829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u="sng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*Prototype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1888368835" name=""/>
          <p:cNvSpPr txBox="1"/>
          <p:nvPr/>
        </p:nvSpPr>
        <p:spPr bwMode="auto">
          <a:xfrm rot="0" flipH="0" flipV="0">
            <a:off x="9683937" y="1479408"/>
            <a:ext cx="79332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u="sng">
                <a:solidFill>
                  <a:srgbClr val="7030A0"/>
                </a:solidFill>
                <a:hlinkClick r:id="rId8" tooltip=""/>
              </a:rPr>
              <a:t>GitHub</a:t>
            </a:r>
            <a:endParaRPr sz="1400">
              <a:solidFill>
                <a:srgbClr val="026AF8"/>
              </a:solidFill>
            </a:endParaRPr>
          </a:p>
        </p:txBody>
      </p:sp>
      <p:sp>
        <p:nvSpPr>
          <p:cNvPr id="613142769" name=""/>
          <p:cNvSpPr txBox="1"/>
          <p:nvPr/>
        </p:nvSpPr>
        <p:spPr bwMode="auto">
          <a:xfrm rot="0" flipH="0" flipV="0">
            <a:off x="9706548" y="1265869"/>
            <a:ext cx="86008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u="sng">
                <a:solidFill>
                  <a:srgbClr val="026AF8"/>
                </a:solidFill>
                <a:hlinkClick r:id="rId9" tooltip=""/>
              </a:rPr>
              <a:t>Report</a:t>
            </a:r>
            <a:endParaRPr sz="1400">
              <a:solidFill>
                <a:srgbClr val="026AF8"/>
              </a:solidFill>
            </a:endParaRPr>
          </a:p>
        </p:txBody>
      </p:sp>
      <p:sp>
        <p:nvSpPr>
          <p:cNvPr id="1039793043" name=""/>
          <p:cNvSpPr txBox="1"/>
          <p:nvPr/>
        </p:nvSpPr>
        <p:spPr bwMode="auto">
          <a:xfrm rot="0" flipH="0" flipV="0">
            <a:off x="10674908" y="972201"/>
            <a:ext cx="16721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u="sng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Detailed </a:t>
            </a:r>
            <a:r>
              <a:rPr sz="1400" u="sng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Report*</a:t>
            </a:r>
            <a:endParaRPr sz="1400" u="sng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88372593" name="Freeform 18"/>
          <p:cNvSpPr/>
          <p:nvPr/>
        </p:nvSpPr>
        <p:spPr bwMode="auto">
          <a:xfrm rot="0" flipH="0" flipV="0">
            <a:off x="3930934" y="5512788"/>
            <a:ext cx="5226491" cy="734142"/>
          </a:xfrm>
          <a:custGeom>
            <a:avLst/>
            <a:gdLst/>
            <a:ahLst/>
            <a:cxnLst/>
            <a:rect l="l" t="t" r="r" b="b"/>
            <a:pathLst>
              <a:path w="17311339" h="5788479" fill="norm" stroke="1" extrusionOk="0">
                <a:moveTo>
                  <a:pt x="0" y="0"/>
                </a:moveTo>
                <a:lnTo>
                  <a:pt x="17311338" y="0"/>
                </a:lnTo>
                <a:lnTo>
                  <a:pt x="17311338" y="5788479"/>
                </a:lnTo>
                <a:lnTo>
                  <a:pt x="0" y="5788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rcRect l="69808" t="0" r="0" b="87317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005181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448750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TECHNICAL APPROACH</a:t>
            </a:r>
            <a:endParaRPr/>
          </a:p>
        </p:txBody>
      </p:sp>
      <p:sp>
        <p:nvSpPr>
          <p:cNvPr id="2902344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511387342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7622332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9670862" name="Oval 9" descr="Your startup LOGO"/>
          <p:cNvSpPr/>
          <p:nvPr/>
        </p:nvSpPr>
        <p:spPr bwMode="auto">
          <a:xfrm>
            <a:off x="329772" y="252245"/>
            <a:ext cx="1251856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latin typeface="Georgia"/>
                <a:ea typeface="Georgia"/>
                <a:cs typeface="Georgia"/>
              </a:rPr>
              <a:t>Vercel</a:t>
            </a:r>
            <a:endParaRPr>
              <a:latin typeface="Georgia"/>
              <a:cs typeface="Georgia"/>
            </a:endParaRPr>
          </a:p>
        </p:txBody>
      </p:sp>
      <p:pic>
        <p:nvPicPr>
          <p:cNvPr id="2017552023" name=""/>
          <p:cNvPicPr>
            <a:picLocks noChangeAspect="1"/>
          </p:cNvPicPr>
          <p:nvPr/>
        </p:nvPicPr>
        <p:blipFill rotWithShape="1">
          <a:blip r:embed="rId4"/>
          <a:srcRect l="4405" t="20440" r="49647" b="19738"/>
          <a:stretch/>
        </p:blipFill>
        <p:spPr bwMode="auto">
          <a:xfrm flipH="0" flipV="0">
            <a:off x="139272" y="1161138"/>
            <a:ext cx="1906654" cy="1654938"/>
          </a:xfrm>
          <a:prstGeom prst="rect">
            <a:avLst/>
          </a:prstGeom>
        </p:spPr>
      </p:pic>
      <p:pic>
        <p:nvPicPr>
          <p:cNvPr id="822304427" name=""/>
          <p:cNvPicPr>
            <a:picLocks noChangeAspect="1"/>
          </p:cNvPicPr>
          <p:nvPr/>
        </p:nvPicPr>
        <p:blipFill rotWithShape="1">
          <a:blip r:embed="rId4"/>
          <a:srcRect l="49788" t="20440" r="3875" b="19738"/>
          <a:stretch/>
        </p:blipFill>
        <p:spPr bwMode="auto">
          <a:xfrm flipH="0" flipV="0">
            <a:off x="10193549" y="1216225"/>
            <a:ext cx="1858793" cy="1599851"/>
          </a:xfrm>
          <a:prstGeom prst="rect">
            <a:avLst/>
          </a:prstGeom>
        </p:spPr>
      </p:pic>
      <p:sp>
        <p:nvSpPr>
          <p:cNvPr id="240926882" name="Freeform 18"/>
          <p:cNvSpPr/>
          <p:nvPr/>
        </p:nvSpPr>
        <p:spPr bwMode="auto">
          <a:xfrm rot="0" flipH="0" flipV="0">
            <a:off x="0" y="2919814"/>
            <a:ext cx="12191998" cy="3434946"/>
          </a:xfrm>
          <a:custGeom>
            <a:avLst/>
            <a:gdLst/>
            <a:ahLst/>
            <a:cxnLst/>
            <a:rect l="l" t="t" r="r" b="b"/>
            <a:pathLst>
              <a:path w="17311339" h="5788479" fill="norm" stroke="1" extrusionOk="0">
                <a:moveTo>
                  <a:pt x="0" y="0"/>
                </a:moveTo>
                <a:lnTo>
                  <a:pt x="17311338" y="0"/>
                </a:lnTo>
                <a:lnTo>
                  <a:pt x="17311338" y="5788479"/>
                </a:lnTo>
                <a:lnTo>
                  <a:pt x="0" y="5788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rcRect l="0" t="13874" r="0" b="0"/>
            <a:stretch>
              <a:fillRect l="0" t="0" r="0" b="0"/>
            </a:stretch>
          </a:blipFill>
        </p:spPr>
      </p:sp>
      <p:sp>
        <p:nvSpPr>
          <p:cNvPr id="766376789" name="Freeform 20"/>
          <p:cNvSpPr/>
          <p:nvPr/>
        </p:nvSpPr>
        <p:spPr bwMode="auto">
          <a:xfrm rot="0" flipH="0" flipV="0">
            <a:off x="2045925" y="800100"/>
            <a:ext cx="8012472" cy="2119713"/>
          </a:xfrm>
          <a:custGeom>
            <a:avLst/>
            <a:gdLst/>
            <a:ahLst/>
            <a:cxnLst/>
            <a:rect l="l" t="t" r="r" b="b"/>
            <a:pathLst>
              <a:path w="9678918" h="3870591" fill="norm" stroke="1" extrusionOk="0">
                <a:moveTo>
                  <a:pt x="0" y="0"/>
                </a:moveTo>
                <a:lnTo>
                  <a:pt x="9678918" y="0"/>
                </a:lnTo>
                <a:lnTo>
                  <a:pt x="9678918" y="3870591"/>
                </a:lnTo>
                <a:lnTo>
                  <a:pt x="0" y="3870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rcRect l="1503" t="26427" r="1180" b="8186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B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74776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6631073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12396944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4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609716499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pic>
        <p:nvPicPr>
          <p:cNvPr id="1831351604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90274868" name="Oval 9" descr="Your startup LOGO"/>
          <p:cNvSpPr/>
          <p:nvPr/>
        </p:nvSpPr>
        <p:spPr bwMode="auto">
          <a:xfrm>
            <a:off x="329772" y="252245"/>
            <a:ext cx="1251856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latin typeface="Georgia"/>
                <a:ea typeface="Georgia"/>
                <a:cs typeface="Georgia"/>
              </a:rPr>
              <a:t>Vercel</a:t>
            </a:r>
            <a:endParaRPr>
              <a:latin typeface="Georgia"/>
              <a:cs typeface="Georgia"/>
            </a:endParaRPr>
          </a:p>
        </p:txBody>
      </p:sp>
      <p:pic>
        <p:nvPicPr>
          <p:cNvPr id="1614943158" name=""/>
          <p:cNvPicPr>
            <a:picLocks noChangeAspect="1"/>
          </p:cNvPicPr>
          <p:nvPr/>
        </p:nvPicPr>
        <p:blipFill rotWithShape="1">
          <a:blip r:embed="rId4"/>
          <a:srcRect l="0" t="8652" r="0" b="19888"/>
          <a:stretch/>
        </p:blipFill>
        <p:spPr bwMode="auto">
          <a:xfrm flipH="0" flipV="0">
            <a:off x="0" y="1156736"/>
            <a:ext cx="12118647" cy="5198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87952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8562232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11431926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16916644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pic>
        <p:nvPicPr>
          <p:cNvPr id="1044281698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7735432" name="Oval 9" descr="Your startup LOGO"/>
          <p:cNvSpPr/>
          <p:nvPr/>
        </p:nvSpPr>
        <p:spPr bwMode="auto">
          <a:xfrm>
            <a:off x="329772" y="252245"/>
            <a:ext cx="1251856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latin typeface="Georgia"/>
                <a:ea typeface="Georgia"/>
                <a:cs typeface="Georgia"/>
              </a:rPr>
              <a:t>Vercel</a:t>
            </a:r>
            <a:endParaRPr>
              <a:latin typeface="Georgia"/>
              <a:cs typeface="Georgia"/>
            </a:endParaRPr>
          </a:p>
        </p:txBody>
      </p:sp>
      <p:sp>
        <p:nvSpPr>
          <p:cNvPr id="1517285583" name="Freeform 18"/>
          <p:cNvSpPr/>
          <p:nvPr/>
        </p:nvSpPr>
        <p:spPr bwMode="auto">
          <a:xfrm rot="0" flipH="0" flipV="0">
            <a:off x="173398" y="4179889"/>
            <a:ext cx="7086600" cy="2190749"/>
          </a:xfrm>
          <a:custGeom>
            <a:avLst/>
            <a:gdLst/>
            <a:ahLst/>
            <a:cxnLst/>
            <a:rect l="l" t="t" r="r" b="b"/>
            <a:pathLst>
              <a:path w="8015557" h="3453091" fill="norm" stroke="1" extrusionOk="0">
                <a:moveTo>
                  <a:pt x="0" y="0"/>
                </a:moveTo>
                <a:lnTo>
                  <a:pt x="8015557" y="0"/>
                </a:lnTo>
                <a:lnTo>
                  <a:pt x="8015557" y="3453091"/>
                </a:lnTo>
                <a:lnTo>
                  <a:pt x="0" y="3453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rcRect l="5117" t="29946" r="3144" b="0"/>
            <a:stretch>
              <a:fillRect l="0" t="-12677" r="0" b="-3385"/>
            </a:stretch>
          </a:blipFill>
        </p:spPr>
      </p:sp>
      <p:sp>
        <p:nvSpPr>
          <p:cNvPr id="515009257" name="Freeform 20"/>
          <p:cNvSpPr/>
          <p:nvPr/>
        </p:nvSpPr>
        <p:spPr bwMode="auto">
          <a:xfrm rot="0" flipH="0" flipV="0">
            <a:off x="135298" y="1189038"/>
            <a:ext cx="7010399" cy="2982910"/>
          </a:xfrm>
          <a:custGeom>
            <a:avLst/>
            <a:gdLst/>
            <a:ahLst/>
            <a:cxnLst/>
            <a:rect l="l" t="t" r="r" b="b"/>
            <a:pathLst>
              <a:path w="7995369" h="4798891" fill="norm" stroke="1" extrusionOk="0">
                <a:moveTo>
                  <a:pt x="0" y="0"/>
                </a:moveTo>
                <a:lnTo>
                  <a:pt x="7995369" y="0"/>
                </a:lnTo>
                <a:lnTo>
                  <a:pt x="7995369" y="4798891"/>
                </a:lnTo>
                <a:lnTo>
                  <a:pt x="0" y="4798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rcRect l="1513" t="18990" r="1358" b="3778"/>
            <a:stretch>
              <a:fillRect l="0" t="0" r="0" b="-11072"/>
            </a:stretch>
          </a:blipFill>
        </p:spPr>
      </p:sp>
      <p:sp>
        <p:nvSpPr>
          <p:cNvPr id="994977548" name="Freeform 21"/>
          <p:cNvSpPr/>
          <p:nvPr/>
        </p:nvSpPr>
        <p:spPr bwMode="auto">
          <a:xfrm rot="0" flipH="0" flipV="0">
            <a:off x="7088549" y="1171573"/>
            <a:ext cx="5036635" cy="5038725"/>
          </a:xfrm>
          <a:custGeom>
            <a:avLst/>
            <a:gdLst/>
            <a:ahLst/>
            <a:cxnLst/>
            <a:rect l="l" t="t" r="r" b="b"/>
            <a:pathLst>
              <a:path w="7070523" h="7305443" fill="norm" stroke="1" extrusionOk="0">
                <a:moveTo>
                  <a:pt x="0" y="0"/>
                </a:moveTo>
                <a:lnTo>
                  <a:pt x="7070523" y="0"/>
                </a:lnTo>
                <a:lnTo>
                  <a:pt x="7070523" y="7305443"/>
                </a:lnTo>
                <a:lnTo>
                  <a:pt x="0" y="7305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460026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6439780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16513611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6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999915432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pic>
        <p:nvPicPr>
          <p:cNvPr id="1255979402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4287026" name="Oval 9" descr="Your startup LOGO"/>
          <p:cNvSpPr/>
          <p:nvPr/>
        </p:nvSpPr>
        <p:spPr bwMode="auto">
          <a:xfrm>
            <a:off x="329772" y="252245"/>
            <a:ext cx="1251856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latin typeface="Georgia"/>
                <a:ea typeface="Georgia"/>
                <a:cs typeface="Georgia"/>
              </a:rPr>
              <a:t>Vercel</a:t>
            </a:r>
            <a:endParaRPr>
              <a:latin typeface="Georgia"/>
              <a:cs typeface="Georgia"/>
            </a:endParaRPr>
          </a:p>
        </p:txBody>
      </p:sp>
      <p:sp>
        <p:nvSpPr>
          <p:cNvPr id="1873483425" name="Freeform 18"/>
          <p:cNvSpPr/>
          <p:nvPr/>
        </p:nvSpPr>
        <p:spPr bwMode="auto">
          <a:xfrm rot="0" flipH="0" flipV="0">
            <a:off x="0" y="3657600"/>
            <a:ext cx="12191998" cy="2697161"/>
          </a:xfrm>
          <a:custGeom>
            <a:avLst/>
            <a:gdLst/>
            <a:ahLst/>
            <a:cxnLst/>
            <a:rect l="l" t="t" r="r" b="b"/>
            <a:pathLst>
              <a:path w="16475230" h="7546157" fill="norm" stroke="1" extrusionOk="0">
                <a:moveTo>
                  <a:pt x="0" y="0"/>
                </a:moveTo>
                <a:lnTo>
                  <a:pt x="16475230" y="0"/>
                </a:lnTo>
                <a:lnTo>
                  <a:pt x="16475230" y="7546158"/>
                </a:lnTo>
                <a:lnTo>
                  <a:pt x="0" y="7546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rcRect l="0" t="47396" r="1260" b="3171"/>
            <a:stretch>
              <a:fillRect l="0" t="-14986" r="0" b="-7819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4450380" name="Freeform 18"/>
          <p:cNvSpPr/>
          <p:nvPr/>
        </p:nvSpPr>
        <p:spPr bwMode="auto">
          <a:xfrm rot="0" flipH="0" flipV="0">
            <a:off x="59099" y="1095374"/>
            <a:ext cx="12058650" cy="2638424"/>
          </a:xfrm>
          <a:custGeom>
            <a:avLst/>
            <a:gdLst/>
            <a:ahLst/>
            <a:cxnLst/>
            <a:rect l="l" t="t" r="r" b="b"/>
            <a:pathLst>
              <a:path w="16475230" h="7546157" fill="norm" stroke="1" extrusionOk="0">
                <a:moveTo>
                  <a:pt x="0" y="0"/>
                </a:moveTo>
                <a:lnTo>
                  <a:pt x="16475230" y="0"/>
                </a:lnTo>
                <a:lnTo>
                  <a:pt x="16475230" y="7546158"/>
                </a:lnTo>
                <a:lnTo>
                  <a:pt x="0" y="7546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rcRect l="955" t="6697" r="1087" b="46197"/>
            <a:stretch>
              <a:fillRect l="0" t="-14986" r="0" b="-7819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70300097" name="">
            <a:hlinkClick r:id="rId5" tooltip=""/>
          </p:cNvPr>
          <p:cNvSpPr txBox="1"/>
          <p:nvPr/>
        </p:nvSpPr>
        <p:spPr bwMode="auto">
          <a:xfrm rot="0" flipH="0" flipV="0">
            <a:off x="497249" y="3386729"/>
            <a:ext cx="85537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1" u="none">
                <a:solidFill>
                  <a:schemeClr val="tx2"/>
                </a:solidFill>
              </a:rPr>
              <a:t>Docs Link</a:t>
            </a:r>
            <a:endParaRPr sz="1400" b="1" i="1" u="sng">
              <a:solidFill>
                <a:schemeClr val="tx2"/>
              </a:solidFill>
            </a:endParaRPr>
          </a:p>
        </p:txBody>
      </p:sp>
      <p:sp>
        <p:nvSpPr>
          <p:cNvPr id="270402128" name="">
            <a:hlinkClick r:id="rId5" tooltip=""/>
          </p:cNvPr>
          <p:cNvSpPr txBox="1"/>
          <p:nvPr/>
        </p:nvSpPr>
        <p:spPr bwMode="auto">
          <a:xfrm rot="0" flipH="0" flipV="0">
            <a:off x="2029799" y="3386729"/>
            <a:ext cx="95660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1" u="none">
                <a:solidFill>
                  <a:schemeClr val="tx2"/>
                </a:solidFill>
              </a:rPr>
              <a:t>Inspiration</a:t>
            </a:r>
            <a:endParaRPr sz="1400" b="0" i="1" u="none">
              <a:solidFill>
                <a:schemeClr val="tx2"/>
              </a:solidFill>
            </a:endParaRPr>
          </a:p>
        </p:txBody>
      </p:sp>
      <p:sp>
        <p:nvSpPr>
          <p:cNvPr id="896300190" name="">
            <a:hlinkClick r:id="rId5" tooltip=""/>
          </p:cNvPr>
          <p:cNvSpPr txBox="1"/>
          <p:nvPr/>
        </p:nvSpPr>
        <p:spPr bwMode="auto">
          <a:xfrm rot="0" flipH="0" flipV="0">
            <a:off x="3848099" y="3386729"/>
            <a:ext cx="85537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1" u="none">
                <a:solidFill>
                  <a:schemeClr val="tx2"/>
                </a:solidFill>
              </a:rPr>
              <a:t>Docs Link</a:t>
            </a:r>
            <a:endParaRPr sz="1400" b="1" i="1" u="sng">
              <a:solidFill>
                <a:schemeClr val="tx2"/>
              </a:solidFill>
            </a:endParaRPr>
          </a:p>
        </p:txBody>
      </p:sp>
      <p:sp>
        <p:nvSpPr>
          <p:cNvPr id="2036130451" name="">
            <a:hlinkClick r:id="rId5" tooltip=""/>
          </p:cNvPr>
          <p:cNvSpPr txBox="1"/>
          <p:nvPr/>
        </p:nvSpPr>
        <p:spPr bwMode="auto">
          <a:xfrm rot="0" flipH="0" flipV="0">
            <a:off x="5482900" y="3386729"/>
            <a:ext cx="10770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1" u="none">
                <a:solidFill>
                  <a:schemeClr val="tx2"/>
                </a:solidFill>
              </a:rPr>
              <a:t>Dataset Link</a:t>
            </a:r>
            <a:endParaRPr sz="1400" b="0" i="1" u="none">
              <a:solidFill>
                <a:schemeClr val="tx2"/>
              </a:solidFill>
            </a:endParaRPr>
          </a:p>
        </p:txBody>
      </p:sp>
      <p:sp>
        <p:nvSpPr>
          <p:cNvPr id="2086309569" name="">
            <a:hlinkClick r:id="rId5" tooltip=""/>
          </p:cNvPr>
          <p:cNvSpPr txBox="1"/>
          <p:nvPr/>
        </p:nvSpPr>
        <p:spPr bwMode="auto">
          <a:xfrm rot="0" flipH="0" flipV="0">
            <a:off x="7244049" y="3386729"/>
            <a:ext cx="97180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1" u="none">
                <a:solidFill>
                  <a:schemeClr val="tx2"/>
                </a:solidFill>
              </a:rPr>
              <a:t>Qualcomm</a:t>
            </a:r>
            <a:endParaRPr sz="1400" b="0" i="1" u="none">
              <a:solidFill>
                <a:schemeClr val="tx2"/>
              </a:solidFill>
            </a:endParaRPr>
          </a:p>
        </p:txBody>
      </p:sp>
      <p:sp>
        <p:nvSpPr>
          <p:cNvPr id="1416582448" name="">
            <a:hlinkClick r:id="rId5" tooltip=""/>
          </p:cNvPr>
          <p:cNvSpPr txBox="1"/>
          <p:nvPr/>
        </p:nvSpPr>
        <p:spPr bwMode="auto">
          <a:xfrm rot="0" flipH="0" flipV="0">
            <a:off x="9012786" y="3386729"/>
            <a:ext cx="932120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1" u="none">
                <a:solidFill>
                  <a:schemeClr val="tx2"/>
                </a:solidFill>
              </a:rPr>
              <a:t>Paper Link</a:t>
            </a:r>
            <a:endParaRPr sz="1400" b="1" i="1" u="sng">
              <a:solidFill>
                <a:schemeClr val="tx2"/>
              </a:solidFill>
            </a:endParaRPr>
          </a:p>
        </p:txBody>
      </p:sp>
      <p:sp>
        <p:nvSpPr>
          <p:cNvPr id="709671327" name="">
            <a:hlinkClick r:id="rId5" tooltip=""/>
          </p:cNvPr>
          <p:cNvSpPr txBox="1"/>
          <p:nvPr/>
        </p:nvSpPr>
        <p:spPr bwMode="auto">
          <a:xfrm rot="0" flipH="0" flipV="0">
            <a:off x="10850136" y="3386729"/>
            <a:ext cx="932120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1" u="none">
                <a:solidFill>
                  <a:schemeClr val="tx2"/>
                </a:solidFill>
              </a:rPr>
              <a:t>Paper Link</a:t>
            </a:r>
            <a:endParaRPr sz="1400" b="0" i="1" u="none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>Crowdfunder, Inc.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/>
  <cp:revision>152</cp:revision>
  <dcterms:created xsi:type="dcterms:W3CDTF">2013-12-12T18:46:50Z</dcterms:created>
  <dcterms:modified xsi:type="dcterms:W3CDTF">2026-09-30T14:08:08Z</dcterms:modified>
  <cp:category/>
</cp:coreProperties>
</file>